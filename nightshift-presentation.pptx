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0" y="731520"/>
            <a:ext cx="4297680" cy="384048"/>
          </a:xfrm>
          <a:prstGeom prst="roundRect">
            <a:avLst/>
          </a:prstGeom>
          <a:solidFill>
            <a:srgbClr val="12264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0A5FA"/>
                </a:solidFill>
              </a:defRPr>
            </a:pPr>
            <a:r>
              <a:t>IBM BOB 2.0 HACKATHON SUBMISSION · DEVELOPER WORKFLOW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3F4F6"/>
                </a:solidFill>
              </a:defRPr>
            </a:pPr>
            <a:r>
              <a:t>Nightshift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484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</a:defRPr>
            </a:pPr>
            <a:r>
              <a:t>Your logs get triaged while you sleep.</a:t>
            </a:r>
            <a:br/>
            <a:r>
              <a:t>You wake up to pull requests.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3566160"/>
            <a:ext cx="3291840" cy="2011680"/>
          </a:xfrm>
          <a:prstGeom prst="roundRect">
            <a:avLst/>
          </a:prstGeom>
          <a:solidFill>
            <a:srgbClr val="151D2A"/>
          </a:solidFill>
          <a:ln w="12700">
            <a:solidFill>
              <a:srgbClr val="23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F3F4F6"/>
                </a:solidFill>
              </a:defRPr>
            </a:pPr>
            <a:r>
              <a:t>🔍 Overnight Ingestion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Continuously monitors rotated logs across microservices with byte-offset tracking in PostgreSQL.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3566160"/>
            <a:ext cx="3291840" cy="2011680"/>
          </a:xfrm>
          <a:prstGeom prst="roundRect">
            <a:avLst/>
          </a:prstGeom>
          <a:solidFill>
            <a:srgbClr val="151D2A"/>
          </a:solidFill>
          <a:ln w="12700">
            <a:solidFill>
              <a:srgbClr val="23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F3F4F6"/>
                </a:solidFill>
              </a:defRPr>
            </a:pPr>
            <a:r>
              <a:t>🧠 Agentic Root Cause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Pinpoints exact source lines, reasons about future impact, and synthesizes clean unified diffs.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3566160"/>
            <a:ext cx="3291840" cy="2011680"/>
          </a:xfrm>
          <a:prstGeom prst="roundRect">
            <a:avLst/>
          </a:prstGeom>
          <a:solidFill>
            <a:srgbClr val="151D2A"/>
          </a:solidFill>
          <a:ln w="12700">
            <a:solidFill>
              <a:srgbClr val="23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F3F4F6"/>
                </a:solidFill>
              </a:defRPr>
            </a:pPr>
            <a:r>
              <a:t>🛡️ Adversarial Gate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Verifies patches via 'git apply --check' and suppresses non-issues. Never commits to main.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Stack: Java 21 · Spring Boot 3.4.3 · PostgreSQL 16 · Docker · JGit · Model Context Protocol (MCP)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47472"/>
          </a:xfrm>
          <a:prstGeom prst="roundRect">
            <a:avLst/>
          </a:prstGeom>
          <a:solidFill>
            <a:srgbClr val="12264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0A5FA"/>
                </a:solidFill>
              </a:defRPr>
            </a:pPr>
            <a: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</a:defRPr>
            </a:pPr>
            <a:r>
              <a:t>The Log Abyss &amp; Alert Fatigue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Log aggregators stop at the dashboard. They alert. They do not fix.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06240"/>
          </a:xfrm>
          <a:prstGeom prst="roundRect">
            <a:avLst/>
          </a:prstGeom>
          <a:solidFill>
            <a:srgbClr val="151D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 rIns="365760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⚠️  Today's Manual Reality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• 2–4 hours of senior developer attention lost per bug grepping logs and finding code.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• 23,000+ lines of raw log noise bury critical warnings under repeated stack traces.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• Silent creeping disasters: A connection pool leak fires 365 times silently for weeks until month-end traffic crashes the service.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• Engineers start their morning sorting through messy log consoles and Slack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120640" cy="4206240"/>
          </a:xfrm>
          <a:prstGeom prst="roundRect">
            <a:avLst/>
          </a:prstGeom>
          <a:solidFill>
            <a:srgbClr val="151D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 rIns="36576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✨  The Nightshift Solution</a:t>
            </a:r>
          </a:p>
          <a:p>
            <a:pPr>
              <a:spcBef>
                <a:spcPts val="1400"/>
              </a:spcBef>
              <a:defRPr sz="1300">
                <a:solidFill>
                  <a:srgbClr val="F3F4F6"/>
                </a:solidFill>
              </a:defRPr>
            </a:pPr>
            <a:r>
              <a:t>• Zero morning grepping: Developers wake up directly to a clean review queue with ready PRs.</a:t>
            </a:r>
          </a:p>
          <a:p>
            <a:pPr>
              <a:spcBef>
                <a:spcPts val="1400"/>
              </a:spcBef>
              <a:defRPr sz="1300">
                <a:solidFill>
                  <a:srgbClr val="F3F4F6"/>
                </a:solidFill>
              </a:defRPr>
            </a:pPr>
            <a:r>
              <a:t>• 2,875 : 1 noise compression: Over 20,000 log lines collapsed into 7 actionable root causes.</a:t>
            </a:r>
          </a:p>
          <a:p>
            <a:pPr>
              <a:spcBef>
                <a:spcPts val="1400"/>
              </a:spcBef>
              <a:defRPr sz="1300">
                <a:solidFill>
                  <a:srgbClr val="F3F4F6"/>
                </a:solidFill>
              </a:defRPr>
            </a:pPr>
            <a:r>
              <a:t>• Deterministic grounding: The model is anchored to real repository source files and line numbers.</a:t>
            </a:r>
          </a:p>
          <a:p>
            <a:pPr>
              <a:spcBef>
                <a:spcPts val="1400"/>
              </a:spcBef>
              <a:defRPr sz="1300">
                <a:solidFill>
                  <a:srgbClr val="F3F4F6"/>
                </a:solidFill>
              </a:defRPr>
            </a:pPr>
            <a:r>
              <a:t>• Strict human-in-the-loop: Opens isolated pull requests for review; never pushes to main.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47472"/>
          </a:xfrm>
          <a:prstGeom prst="roundRect">
            <a:avLst/>
          </a:prstGeom>
          <a:solidFill>
            <a:srgbClr val="12264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0A5FA"/>
                </a:solidFill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</a:defRPr>
            </a:pPr>
            <a:r>
              <a:t>The Hybrid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Deterministic code where exactness is required; LLM agents where reasoning is essential.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06240"/>
          </a:xfrm>
          <a:prstGeom prst="roundRect">
            <a:avLst/>
          </a:prstGeom>
          <a:solidFill>
            <a:srgbClr val="151D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 rIns="365760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⚡  Deterministic Core (Exact &amp; Fast)</a:t>
            </a:r>
          </a:p>
          <a:p>
            <a:pPr>
              <a:spcBef>
                <a:spcPts val="1200"/>
              </a:spcBef>
              <a:defRPr sz="1400" b="1">
                <a:solidFill>
                  <a:srgbClr val="F3F4F6"/>
                </a:solidFill>
              </a:defRPr>
            </a:pPr>
            <a:r>
              <a:t>Byte-Offset Log Ingestion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Tracks offsets in PostgreSQL for zero-duplicate, incremental reads across files.</a:t>
            </a:r>
          </a:p>
          <a:p>
            <a:pPr>
              <a:spcBef>
                <a:spcPts val="1200"/>
              </a:spcBef>
              <a:defRPr sz="1400" b="1">
                <a:solidFill>
                  <a:srgbClr val="F3F4F6"/>
                </a:solidFill>
              </a:defRPr>
            </a:pPr>
            <a:r>
              <a:t>SHA-256 Fingerprinter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Normalizes exception messages and stack frames to fold cross-service duplicate defects.</a:t>
            </a:r>
          </a:p>
          <a:p>
            <a:pPr>
              <a:spcBef>
                <a:spcPts val="1200"/>
              </a:spcBef>
              <a:defRPr sz="1400" b="1">
                <a:solidFill>
                  <a:srgbClr val="F3F4F6"/>
                </a:solidFill>
              </a:defRPr>
            </a:pPr>
            <a:r>
              <a:t>Deterministic Code Locator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Validates that class, method, and line exist in repository tree before model invocation.</a:t>
            </a:r>
          </a:p>
          <a:p>
            <a:pPr>
              <a:spcBef>
                <a:spcPts val="1200"/>
              </a:spcBef>
              <a:defRPr sz="1400" b="1">
                <a:solidFill>
                  <a:srgbClr val="F3F4F6"/>
                </a:solidFill>
              </a:defRPr>
            </a:pPr>
            <a:r>
              <a:t>Transactional Outbox Relay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Guarantees reliable notification and email delivery with retry and backoff.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120640" cy="4206240"/>
          </a:xfrm>
          <a:prstGeom prst="roundRect">
            <a:avLst/>
          </a:prstGeom>
          <a:solidFill>
            <a:srgbClr val="151D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 rIns="36576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🤖  Agentic Reasoning Core</a:t>
            </a:r>
          </a:p>
          <a:p>
            <a:pPr>
              <a:spcBef>
                <a:spcPts val="1200"/>
              </a:spcBef>
              <a:defRPr sz="1400" b="1">
                <a:solidFill>
                  <a:srgbClr val="F3F4F6"/>
                </a:solidFill>
              </a:defRPr>
            </a:pPr>
            <a:r>
              <a:t>Triage Agent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Computes severity from Frequency × Trend × Blast Radius, explains root cause, and forecasts future impact.</a:t>
            </a:r>
          </a:p>
          <a:p>
            <a:pPr>
              <a:spcBef>
                <a:spcPts val="1200"/>
              </a:spcBef>
              <a:defRPr sz="1400" b="1">
                <a:solidFill>
                  <a:srgbClr val="F3F4F6"/>
                </a:solidFill>
              </a:defRPr>
            </a:pPr>
            <a:r>
              <a:t>Fix Agent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Generates minimal, surgical unified diffs grounded strictly in retrieved source context.</a:t>
            </a:r>
          </a:p>
          <a:p>
            <a:pPr>
              <a:spcBef>
                <a:spcPts val="1200"/>
              </a:spcBef>
              <a:defRPr sz="1400" b="1">
                <a:solidFill>
                  <a:srgbClr val="F3F4F6"/>
                </a:solidFill>
              </a:defRPr>
            </a:pPr>
            <a:r>
              <a:t>Verifier Agent (Adversarial Gate)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Checks claims against evidence and gates publication with 'git apply --check'.</a:t>
            </a:r>
          </a:p>
          <a:p>
            <a:pPr>
              <a:spcBef>
                <a:spcPts val="1200"/>
              </a:spcBef>
              <a:defRPr sz="1400" b="1">
                <a:solidFill>
                  <a:srgbClr val="F3F4F6"/>
                </a:solidFill>
              </a:defRPr>
            </a:pPr>
            <a:r>
              <a:t>Interchangeable Providers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Supports OpenAI, Gemini, Claude, or offline Heuristic client with zero configuration.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47472"/>
          </a:xfrm>
          <a:prstGeom prst="roundRect">
            <a:avLst/>
          </a:prstGeom>
          <a:solidFill>
            <a:srgbClr val="12264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0A5FA"/>
                </a:solidFill>
              </a:defRPr>
            </a:pPr>
            <a:r>
              <a:t>EXECUTION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</a:defRPr>
            </a:pPr>
            <a:r>
              <a:t>Four Autonomous Pipeline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From raw unread log bytes to a published pull request in under 6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468880" cy="3291840"/>
          </a:xfrm>
          <a:prstGeom prst="roundRect">
            <a:avLst/>
          </a:prstGeom>
          <a:solidFill>
            <a:srgbClr val="151D2A"/>
          </a:solidFill>
          <a:ln w="12700">
            <a:solidFill>
              <a:srgbClr val="23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1. Ingest &amp; Fold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Scans rotated log files across microservices. Tracks byte offsets to ensure zero reprocessing. Computes SHA-256 fingerprints to deduplicate identical errors across 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103120"/>
            <a:ext cx="2468880" cy="3291840"/>
          </a:xfrm>
          <a:prstGeom prst="roundRect">
            <a:avLst/>
          </a:prstGeom>
          <a:solidFill>
            <a:srgbClr val="151D2A"/>
          </a:solidFill>
          <a:ln w="12700">
            <a:solidFill>
              <a:srgbClr val="23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2. Triage &amp; Forecast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Extracts root cause from stack traces. Analyzes error volume and blast radius. Calculates prospective impact (e.g. connection pool exhaustion time).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2468880" cy="3291840"/>
          </a:xfrm>
          <a:prstGeom prst="roundRect">
            <a:avLst/>
          </a:prstGeom>
          <a:solidFill>
            <a:srgbClr val="151D2A"/>
          </a:solidFill>
          <a:ln w="12700">
            <a:solidFill>
              <a:srgbClr val="23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3. Locate &amp; Patch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Anchors defects to verified Java source files. Fix Agent generates surgical unified diffs solving the root issue without collateral code modification.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103120"/>
            <a:ext cx="2468880" cy="3291840"/>
          </a:xfrm>
          <a:prstGeom prst="roundRect">
            <a:avLst/>
          </a:prstGeom>
          <a:solidFill>
            <a:srgbClr val="151D2A"/>
          </a:solidFill>
          <a:ln w="12700">
            <a:solidFill>
              <a:srgbClr val="23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4. Verify &amp; Publish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Runs adversarial verification with 'git apply --check' in isolated workspace. Opens git branch PR and dispatches email alert via transactional outbox.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577840"/>
            <a:ext cx="10698480" cy="685800"/>
          </a:xfrm>
          <a:prstGeom prst="rect">
            <a:avLst/>
          </a:prstGeom>
          <a:solidFill>
            <a:srgbClr val="0D121C"/>
          </a:solidFill>
          <a:ln w="12700">
            <a:solidFill>
              <a:srgbClr val="23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0B981"/>
                </a:solidFill>
              </a:defRPr>
            </a:pPr>
            <a:r>
              <a:t>logs/  ──▶  Incremental Ingestion  ──▶  Fingerprint  ──▶  Triage Agent  ──▶  Code Locator  ──▶  Fix Agent  ──▶  Verifier  ──▶  PR &amp; Outbox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47472"/>
          </a:xfrm>
          <a:prstGeom prst="roundRect">
            <a:avLst/>
          </a:prstGeom>
          <a:solidFill>
            <a:srgbClr val="1023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EMPIRICAL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</a:defRPr>
            </a:pPr>
            <a:r>
              <a:t>Evaluation Benchmark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Evaluated against 7-day demo dataset (20,127 lines across 21 files, 8 seeded defects) via CI harness.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468880" cy="1188720"/>
          </a:xfrm>
          <a:prstGeom prst="roundRect">
            <a:avLst/>
          </a:prstGeom>
          <a:solidFill>
            <a:srgbClr val="151D2A"/>
          </a:solidFill>
          <a:ln w="12700">
            <a:solidFill>
              <a:srgbClr val="23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2600" b="1">
                <a:solidFill>
                  <a:srgbClr val="3B82F6"/>
                </a:solidFill>
              </a:defRPr>
            </a:pPr>
            <a:r>
              <a:t>20,127</a:t>
            </a:r>
          </a:p>
          <a:p>
            <a:pPr algn="ctr">
              <a:defRPr sz="1050" b="1">
                <a:solidFill>
                  <a:srgbClr val="F3F4F6"/>
                </a:solidFill>
              </a:defRPr>
            </a:pPr>
            <a:r>
              <a:t>Lines Ingested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Across 21 log 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011680"/>
            <a:ext cx="2468880" cy="1188720"/>
          </a:xfrm>
          <a:prstGeom prst="roundRect">
            <a:avLst/>
          </a:prstGeom>
          <a:solidFill>
            <a:srgbClr val="151D2A"/>
          </a:solidFill>
          <a:ln w="12700">
            <a:solidFill>
              <a:srgbClr val="23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2600" b="1">
                <a:solidFill>
                  <a:srgbClr val="3B82F6"/>
                </a:solidFill>
              </a:defRPr>
            </a:pPr>
            <a:r>
              <a:t>2,875 : 1</a:t>
            </a:r>
          </a:p>
          <a:p>
            <a:pPr algn="ctr">
              <a:defRPr sz="1050" b="1">
                <a:solidFill>
                  <a:srgbClr val="F3F4F6"/>
                </a:solidFill>
              </a:defRPr>
            </a:pPr>
            <a:r>
              <a:t>Noise Reduction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20k+ lines to 7 cards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2468880" cy="1188720"/>
          </a:xfrm>
          <a:prstGeom prst="roundRect">
            <a:avLst/>
          </a:prstGeom>
          <a:solidFill>
            <a:srgbClr val="151D2A"/>
          </a:solidFill>
          <a:ln w="12700">
            <a:solidFill>
              <a:srgbClr val="23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2600" b="1">
                <a:solidFill>
                  <a:srgbClr val="3B82F6"/>
                </a:solidFill>
              </a:defRPr>
            </a:pPr>
            <a:r>
              <a:t>5</a:t>
            </a:r>
          </a:p>
          <a:p>
            <a:pPr algn="ctr">
              <a:defRPr sz="1050" b="1">
                <a:solidFill>
                  <a:srgbClr val="F3F4F6"/>
                </a:solidFill>
              </a:defRPr>
            </a:pPr>
            <a:r>
              <a:t>PRs Opened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2 non-issues suppressed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011680"/>
            <a:ext cx="2468880" cy="1188720"/>
          </a:xfrm>
          <a:prstGeom prst="roundRect">
            <a:avLst/>
          </a:prstGeom>
          <a:solidFill>
            <a:srgbClr val="151D2A"/>
          </a:solidFill>
          <a:ln w="12700">
            <a:solidFill>
              <a:srgbClr val="23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1.000</a:t>
            </a:r>
          </a:p>
          <a:p>
            <a:pPr algn="ctr">
              <a:defRPr sz="1050" b="1">
                <a:solidFill>
                  <a:srgbClr val="F3F4F6"/>
                </a:solidFill>
              </a:defRPr>
            </a:pPr>
            <a:r>
              <a:t>Precision / Recall / F1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100% on Ground Truth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10698480" cy="2926080"/>
          </a:xfrm>
          <a:prstGeom prst="roundRect">
            <a:avLst/>
          </a:prstGeom>
          <a:solidFill>
            <a:srgbClr val="151D2A"/>
          </a:solidFill>
          <a:ln w="12700">
            <a:solidFill>
              <a:srgbClr val="23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3520440"/>
          <a:ext cx="10332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645920"/>
                <a:gridCol w="1371600"/>
                <a:gridCol w="1371600"/>
                <a:gridCol w="3017520"/>
              </a:tblGrid>
              <a:tr h="4267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3F4F6"/>
                          </a:solidFill>
                        </a:defRPr>
                      </a:pPr>
                      <a:r>
                        <a:t>Defect Ingested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3F4F6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3F4F6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3F4F6"/>
                          </a:solidFill>
                        </a:defRPr>
                      </a:pPr>
                      <a:r>
                        <a:t>PR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3F4F6"/>
                          </a:solidFill>
                        </a:defRPr>
                      </a:pPr>
                      <a:r>
                        <a:t>Ground Truth Verification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Database connection leak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farmer-service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PR #6488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True Positive · try-with-resources patch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NullPointerException (initials)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farmer &amp; payment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MAJOR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PR #5036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True Positive · Folded defects #2 and #8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Unbounded rate-limit retry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payment-service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PR #6412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True Positive · Bounded retry with backoff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OptimisticLockException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farmer-service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MINOR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Suppressed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True Positive · Verified already handled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Deprecated config 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farmer-service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TRIVIAL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Suppressed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True Positive · Harmless advisory muted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47472"/>
          </a:xfrm>
          <a:prstGeom prst="roundRect">
            <a:avLst/>
          </a:prstGeom>
          <a:solidFill>
            <a:srgbClr val="12264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0A5FA"/>
                </a:solidFill>
              </a:defRPr>
            </a:pPr>
            <a:r>
              <a:t>DEVELOPER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</a:defRPr>
            </a:pPr>
            <a:r>
              <a:t>Anatomy of a Nightshift Pull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Actionable context, root-cause diagnosis, and a clean unified diff waiting in GitHub.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06240"/>
          </a:xfrm>
          <a:prstGeom prst="roundRect">
            <a:avLst/>
          </a:prstGeom>
          <a:solidFill>
            <a:srgbClr val="151D2A"/>
          </a:solidFill>
          <a:ln w="12700">
            <a:solidFill>
              <a:srgbClr val="23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 rIns="365760"/>
          <a:lstStyle/>
          <a:p>
            <a:pPr algn="ctr">
              <a:defRPr sz="1800" b="1">
                <a:solidFill>
                  <a:srgbClr val="F3F4F6"/>
                </a:solidFill>
              </a:defRPr>
            </a:pPr>
            <a:r>
              <a:t>📝  Contextual PR Explanation</a:t>
            </a:r>
          </a:p>
          <a:p>
            <a:pPr>
              <a:spcBef>
                <a:spcPts val="1000"/>
              </a:spcBef>
              <a:defRPr sz="1300" b="1">
                <a:solidFill>
                  <a:srgbClr val="3B82F6"/>
                </a:solidFill>
              </a:defRPr>
            </a:pPr>
            <a:r>
              <a:t>Why It Happens (Root Cause):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The JDBC connection is borrowed before the upstream push call but is not enclosed in try-with-resources. When upstream.push() throws, the connection is never closed, monotonically exhausting the pool under load.</a:t>
            </a:r>
          </a:p>
          <a:p>
            <a:pPr>
              <a:spcBef>
                <a:spcPts val="1000"/>
              </a:spcBef>
              <a:defRPr sz="1300" b="1">
                <a:solidFill>
                  <a:srgbClr val="F59E0B"/>
                </a:solidFill>
              </a:defRPr>
            </a:pPr>
            <a:r>
              <a:t>What It Costs If You Do Not Fix It Now (Forecast):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HikariCP pool is capped at 10. Under sustained error load, the pool will fully exhaust within 2 hours, causing all new requests to time out and cascading service failures.</a:t>
            </a:r>
          </a:p>
          <a:p>
            <a:pPr>
              <a:spcBef>
                <a:spcPts val="1000"/>
              </a:spcBef>
              <a:defRPr sz="1300" b="1">
                <a:solidFill>
                  <a:srgbClr val="10B981"/>
                </a:solidFill>
              </a:defRPr>
            </a:pPr>
            <a:r>
              <a:t>Code Owner Routing: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Assigned to 'dev.a@example.com' via config/assignment-rules.yml and notified through transactional outbox.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120640" cy="4206240"/>
          </a:xfrm>
          <a:prstGeom prst="roundRect">
            <a:avLst/>
          </a:prstGeom>
          <a:solidFill>
            <a:srgbClr val="151D2A"/>
          </a:solidFill>
          <a:ln w="12700">
            <a:solidFill>
              <a:srgbClr val="23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 rIns="365760"/>
          <a:lstStyle/>
          <a:p>
            <a:pPr algn="ctr">
              <a:defRPr sz="1800" b="1">
                <a:solidFill>
                  <a:srgbClr val="F3F4F6"/>
                </a:solidFill>
              </a:defRPr>
            </a:pPr>
            <a:r>
              <a:t>💻  Verified Unified Diff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2651760"/>
            <a:ext cx="4572000" cy="2560320"/>
          </a:xfrm>
          <a:prstGeom prst="rect">
            <a:avLst/>
          </a:prstGeom>
          <a:solidFill>
            <a:srgbClr val="0D121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050">
                <a:solidFill>
                  <a:srgbClr val="94A3B8"/>
                </a:solidFill>
              </a:defRPr>
            </a:pPr>
            <a:r>
              <a:t>--- a/.../OutboxPublisher.java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+++ b/.../OutboxPublisher.java</a:t>
            </a:r>
          </a:p>
          <a:p>
            <a:pPr>
              <a:defRPr sz="1050">
                <a:solidFill>
                  <a:srgbClr val="3B82F6"/>
                </a:solidFill>
              </a:defRPr>
            </a:pPr>
            <a:r>
              <a:t>@@ -40,5 +40,5 @@</a:t>
            </a:r>
          </a:p>
          <a:p>
            <a:pPr>
              <a:defRPr sz="1050">
                <a:solidFill>
                  <a:srgbClr val="EF4444"/>
                </a:solidFill>
              </a:defRPr>
            </a:pPr>
            <a:r>
              <a:t>-   Connection conn = dataSource.getConnection();</a:t>
            </a:r>
          </a:p>
          <a:p>
            <a:pPr>
              <a:defRPr sz="1050">
                <a:solidFill>
                  <a:srgbClr val="EF4444"/>
                </a:solidFill>
              </a:defRPr>
            </a:pPr>
            <a:r>
              <a:t>-   upstream.push(payload);</a:t>
            </a:r>
          </a:p>
          <a:p>
            <a:pPr>
              <a:defRPr sz="1050">
                <a:solidFill>
                  <a:srgbClr val="EF4444"/>
                </a:solidFill>
              </a:defRPr>
            </a:pPr>
            <a:r>
              <a:t>-   conn.close();</a:t>
            </a:r>
          </a:p>
          <a:p>
            <a:pPr>
              <a:defRPr sz="1050">
                <a:solidFill>
                  <a:srgbClr val="10B981"/>
                </a:solidFill>
              </a:defRPr>
            </a:pPr>
            <a:r>
              <a:t>+   try (Connection conn = dataSource.getConnection()) {</a:t>
            </a:r>
          </a:p>
          <a:p>
            <a:pPr>
              <a:defRPr sz="1050">
                <a:solidFill>
                  <a:srgbClr val="10B981"/>
                </a:solidFill>
              </a:defRPr>
            </a:pPr>
            <a:r>
              <a:t>+       upstream.push(payload);</a:t>
            </a:r>
          </a:p>
          <a:p>
            <a:pPr>
              <a:defRPr sz="1050">
                <a:solidFill>
                  <a:srgbClr val="10B981"/>
                </a:solidFill>
              </a:defRPr>
            </a:pPr>
            <a:r>
              <a:t>+  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53949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✅  Syntax verified &amp; tested applicable via 'git apply --check'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47472"/>
          </a:xfrm>
          <a:prstGeom prst="roundRect">
            <a:avLst/>
          </a:prstGeom>
          <a:solidFill>
            <a:srgbClr val="12264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0A5FA"/>
                </a:solidFill>
              </a:defRPr>
            </a:pPr>
            <a:r>
              <a:t>EXTENSIBILITY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</a:defRPr>
            </a:pPr>
            <a:r>
              <a:t>IBM Bob IDE &amp; Multi-Agent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Built with IBM Bob IDE and exposed as a native Model Context Protocol (MCP) server.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06240"/>
          </a:xfrm>
          <a:prstGeom prst="roundRect">
            <a:avLst/>
          </a:prstGeom>
          <a:solidFill>
            <a:srgbClr val="151D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 rIns="365760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🛠️  IBM Bob IDE Acceleration</a:t>
            </a:r>
          </a:p>
          <a:p>
            <a:pPr>
              <a:spcBef>
                <a:spcPts val="1400"/>
              </a:spcBef>
              <a:defRPr sz="1400" b="1">
                <a:solidFill>
                  <a:srgbClr val="F3F4F6"/>
                </a:solidFill>
              </a:defRPr>
            </a:pPr>
            <a:r>
              <a:t>Architecture Derivation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Bob ingested PROMPT.md and V1__core_schema.sql to generate domain models and Flyway migrations across all 18 tasks.</a:t>
            </a:r>
          </a:p>
          <a:p>
            <a:pPr>
              <a:spcBef>
                <a:spcPts val="1400"/>
              </a:spcBef>
              <a:defRPr sz="1400" b="1">
                <a:solidFill>
                  <a:srgbClr val="F3F4F6"/>
                </a:solidFill>
              </a:defRPr>
            </a:pPr>
            <a:r>
              <a:t>Parallel Subagent Execution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Decoupled subsystems built concurrently: Triage Agent + Code Locator alongside Publisher + Outbox Notifier.</a:t>
            </a:r>
          </a:p>
          <a:p>
            <a:pPr>
              <a:spcBef>
                <a:spcPts val="1400"/>
              </a:spcBef>
              <a:defRPr sz="1400" b="1">
                <a:solidFill>
                  <a:srgbClr val="F3F4F6"/>
                </a:solidFill>
              </a:defRPr>
            </a:pPr>
            <a:r>
              <a:t>Iterate-Until-Green Loops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Iterative agent mode verified incremental parsing, fingerprinter collision resistance, and benchmark scoring.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120640" cy="4206240"/>
          </a:xfrm>
          <a:prstGeom prst="roundRect">
            <a:avLst/>
          </a:prstGeom>
          <a:solidFill>
            <a:srgbClr val="151D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 rIns="36576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🌐  Native MCP Server (/mcp)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</a:defRPr>
            </a:pPr>
            <a:r>
              <a:t>Enables external AI agents (Bob, Claude, Antigravity) to drive Nightshift via JSON-RPC 2.0 and Server-Sent Events (SSE):</a:t>
            </a:r>
          </a:p>
          <a:p>
            <a:pPr>
              <a:spcBef>
                <a:spcPts val="800"/>
              </a:spcBef>
              <a:defRPr sz="1100">
                <a:solidFill>
                  <a:srgbClr val="F3F4F6"/>
                </a:solidFill>
              </a:defRPr>
            </a:pPr>
            <a:r>
              <a:t>• list_incidents: Query active incidents with severity chips and status.</a:t>
            </a:r>
          </a:p>
          <a:p>
            <a:pPr>
              <a:spcBef>
                <a:spcPts val="800"/>
              </a:spcBef>
              <a:defRPr sz="1100">
                <a:solidFill>
                  <a:srgbClr val="F3F4F6"/>
                </a:solidFill>
              </a:defRPr>
            </a:pPr>
            <a:r>
              <a:t>• get_incident: Retrieve detailed diagnosis, root cause, and forecast.</a:t>
            </a:r>
          </a:p>
          <a:p>
            <a:pPr>
              <a:spcBef>
                <a:spcPts val="800"/>
              </a:spcBef>
              <a:defRPr sz="1100">
                <a:solidFill>
                  <a:srgbClr val="F3F4F6"/>
                </a:solidFill>
              </a:defRPr>
            </a:pPr>
            <a:r>
              <a:t>• scan_logs: Trigger immediate log ingestion across all sources.</a:t>
            </a:r>
          </a:p>
          <a:p>
            <a:pPr>
              <a:spcBef>
                <a:spcPts val="800"/>
              </a:spcBef>
              <a:defRPr sz="1100">
                <a:solidFill>
                  <a:srgbClr val="F3F4F6"/>
                </a:solidFill>
              </a:defRPr>
            </a:pPr>
            <a:r>
              <a:t>• propose_patch: Request candidate code patch diff for an incident.</a:t>
            </a:r>
          </a:p>
          <a:p>
            <a:pPr>
              <a:spcBef>
                <a:spcPts val="800"/>
              </a:spcBef>
              <a:defRPr sz="1100">
                <a:solidFill>
                  <a:srgbClr val="F3F4F6"/>
                </a:solidFill>
              </a:defRPr>
            </a:pPr>
            <a:r>
              <a:t>• open_pull_request: Publish verified patch to a dedicated git branch.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47472"/>
          </a:xfrm>
          <a:prstGeom prst="roundRect">
            <a:avLst/>
          </a:prstGeom>
          <a:solidFill>
            <a:srgbClr val="1023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PRODUCTION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</a:defRPr>
            </a:pPr>
            <a:r>
              <a:t>Experience Nightshift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Fully runnable locally with zero setup or external cloud keys.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2011680"/>
            <a:ext cx="3291840" cy="2103120"/>
          </a:xfrm>
          <a:prstGeom prst="roundRect">
            <a:avLst/>
          </a:prstGeom>
          <a:solidFill>
            <a:srgbClr val="151D2A"/>
          </a:solidFill>
          <a:ln w="12700">
            <a:solidFill>
              <a:srgbClr val="23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F3F4F6"/>
                </a:solidFill>
              </a:defRPr>
            </a:pPr>
            <a:r>
              <a:t>🖥️  Web Dashboard</a:t>
            </a:r>
          </a:p>
          <a:p>
            <a:pPr>
              <a:spcBef>
                <a:spcPts val="800"/>
              </a:spcBef>
              <a:defRPr sz="1300" b="1">
                <a:solidFill>
                  <a:srgbClr val="3B82F6"/>
                </a:solidFill>
              </a:defRPr>
            </a:pPr>
            <a:r>
              <a:t>http://localhost:8080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Interactive console showing all scan runs, incident cards, unified diffs, and audit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2011680"/>
            <a:ext cx="3291840" cy="2103120"/>
          </a:xfrm>
          <a:prstGeom prst="roundRect">
            <a:avLst/>
          </a:prstGeom>
          <a:solidFill>
            <a:srgbClr val="151D2A"/>
          </a:solidFill>
          <a:ln w="12700">
            <a:solidFill>
              <a:srgbClr val="23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F3F4F6"/>
                </a:solidFill>
              </a:defRPr>
            </a:pPr>
            <a:r>
              <a:t>📬  MailHog Inbox</a:t>
            </a:r>
          </a:p>
          <a:p>
            <a:pPr>
              <a:spcBef>
                <a:spcPts val="800"/>
              </a:spcBef>
              <a:defRPr sz="1300" b="1">
                <a:solidFill>
                  <a:srgbClr val="3B82F6"/>
                </a:solidFill>
              </a:defRPr>
            </a:pPr>
            <a:r>
              <a:t>http://localhost:8025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Catches all notification emails with rich root-cause summaries and PR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2011680"/>
            <a:ext cx="3291840" cy="2103120"/>
          </a:xfrm>
          <a:prstGeom prst="roundRect">
            <a:avLst/>
          </a:prstGeom>
          <a:solidFill>
            <a:srgbClr val="151D2A"/>
          </a:solidFill>
          <a:ln w="12700">
            <a:solidFill>
              <a:srgbClr val="23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F3F4F6"/>
                </a:solidFill>
              </a:defRPr>
            </a:pPr>
            <a:r>
              <a:t>🐘  PostgreSQL 16</a:t>
            </a:r>
          </a:p>
          <a:p>
            <a:pPr>
              <a:spcBef>
                <a:spcPts val="800"/>
              </a:spcBef>
              <a:defRPr sz="1300" b="1">
                <a:solidFill>
                  <a:srgbClr val="3B82F6"/>
                </a:solidFill>
              </a:defRPr>
            </a:pPr>
            <a:r>
              <a:t>localhost:5433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Real relational persistence with Flyway migrations, UUIDv7, and transactional outbox.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4389120"/>
            <a:ext cx="10607040" cy="1828800"/>
          </a:xfrm>
          <a:prstGeom prst="roundRect">
            <a:avLst/>
          </a:prstGeom>
          <a:solidFill>
            <a:srgbClr val="151D2A"/>
          </a:solidFill>
          <a:ln w="12700">
            <a:solidFill>
              <a:srgbClr val="23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 rIns="36576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🚀  How to Run Right Now:</a:t>
            </a:r>
          </a:p>
          <a:p>
            <a:pPr>
              <a:spcBef>
                <a:spcPts val="600"/>
              </a:spcBef>
              <a:defRPr sz="1200">
                <a:solidFill>
                  <a:srgbClr val="F3F4F6"/>
                </a:solidFill>
              </a:defRPr>
            </a:pPr>
            <a:r>
              <a:t>1. Full Production Stack: docker compose up --build  (Starts PostgreSQL, MailHog, and Nightshift Dashboard)</a:t>
            </a:r>
          </a:p>
          <a:p>
            <a:pPr>
              <a:spcBef>
                <a:spcPts val="400"/>
              </a:spcBef>
              <a:defRPr sz="1200">
                <a:solidFill>
                  <a:srgbClr val="F3F4F6"/>
                </a:solidFill>
              </a:defRPr>
            </a:pPr>
            <a:r>
              <a:t>2. Zero-Dependency Standalone: ./gradlew bootRun --args='--spring.profiles.active=standalone'  (In-memory H2)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3. Cloud Native Deployment: Ready for Railway, AWS ECS, or Kubernetes via multi-stage Alpine Docker container.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